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 Medium"/>
      <p:regular r:id="rId16"/>
      <p:bold r:id="rId17"/>
      <p:italic r:id="rId18"/>
      <p:boldItalic r:id="rId19"/>
    </p:embeddedFont>
    <p:embeddedFont>
      <p:font typeface="Playfair Display"/>
      <p:regular r:id="rId20"/>
      <p:bold r:id="rId21"/>
      <p:italic r:id="rId22"/>
      <p:boldItalic r:id="rId23"/>
    </p:embeddedFont>
    <p:embeddedFont>
      <p:font typeface="Playfair Display ExtraBold"/>
      <p:bold r:id="rId24"/>
      <p:boldItalic r:id="rId25"/>
    </p:embeddedFont>
    <p:embeddedFont>
      <p:font typeface="Playfair Display SemiBold"/>
      <p:regular r:id="rId26"/>
      <p:bold r:id="rId27"/>
      <p:italic r:id="rId28"/>
      <p:boldItalic r:id="rId29"/>
    </p:embeddedFont>
    <p:embeddedFont>
      <p:font typeface="Playfair Display Black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PlayfairDisplayExtraBold-bold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SemiBold-regular.fntdata"/><Relationship Id="rId25" Type="http://schemas.openxmlformats.org/officeDocument/2006/relationships/font" Target="fonts/PlayfairDisplayExtraBold-boldItalic.fntdata"/><Relationship Id="rId28" Type="http://schemas.openxmlformats.org/officeDocument/2006/relationships/font" Target="fonts/PlayfairDisplaySemiBold-italic.fntdata"/><Relationship Id="rId27" Type="http://schemas.openxmlformats.org/officeDocument/2006/relationships/font" Target="fonts/PlayfairDisplay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Black-boldItalic.fntdata"/><Relationship Id="rId30" Type="http://schemas.openxmlformats.org/officeDocument/2006/relationships/font" Target="fonts/PlayfairDisplayBlac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Medium-bold.fntdata"/><Relationship Id="rId16" Type="http://schemas.openxmlformats.org/officeDocument/2006/relationships/font" Target="fonts/PlayfairDisplayMedium-regular.fntdata"/><Relationship Id="rId19" Type="http://schemas.openxmlformats.org/officeDocument/2006/relationships/font" Target="fonts/PlayfairDisplayMedium-boldItalic.fntdata"/><Relationship Id="rId18" Type="http://schemas.openxmlformats.org/officeDocument/2006/relationships/font" Target="fonts/PlayfairDisplay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3ac3a7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23ac3a7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3ac3a7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23ac3a7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3ac3a75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23ac3a75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23ac3a75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23ac3a75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23ac3a75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23ac3a75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23ac3a75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23ac3a75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23ac3a75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23ac3a75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23ac3a75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23ac3a75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23ac3a756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23ac3a756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986325" y="1278750"/>
            <a:ext cx="4574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Algoritmo Genético - Função F6</a:t>
            </a:r>
            <a:endParaRPr sz="360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200" y="2914613"/>
            <a:ext cx="1543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7409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5348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6410825" y="1294200"/>
            <a:ext cx="2571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layfair Display"/>
                <a:ea typeface="Playfair Display"/>
                <a:cs typeface="Playfair Display"/>
                <a:sym typeface="Playfair Display"/>
              </a:rPr>
              <a:t>Funcionalidades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Parâmetros personalizáveis (população, gerações, crossover, mutação);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Identificação do melhor indivíduo e Top 5 mais aptos;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Rastreamento de parentesco genético;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Exportação automática para CSV;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Painel completo de análises gráficas.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888175" y="1294200"/>
            <a:ext cx="2316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layfair Display"/>
                <a:ea typeface="Playfair Display"/>
                <a:cs typeface="Playfair Display"/>
                <a:sym typeface="Playfair Display"/>
              </a:rPr>
              <a:t>Descrição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Este projeto implementa um Algoritmo Genético (AG) aplicado à função F6, com o objetivo de encontrar os valores de X e Y que maximizam sua aptidão. Desenvolvido em Python com interface Streamlit para visualização interativa.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888175" y="255200"/>
            <a:ext cx="503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Visão Geral do Projeto</a:t>
            </a:r>
            <a:endParaRPr sz="36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175" y="0"/>
            <a:ext cx="43528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25775" y="186500"/>
            <a:ext cx="515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Configuração dos Parâmetros</a:t>
            </a:r>
            <a:endParaRPr sz="25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175" y="803575"/>
            <a:ext cx="4449050" cy="1026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175" y="1885525"/>
            <a:ext cx="4449050" cy="1026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175" y="2967463"/>
            <a:ext cx="4449050" cy="1026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175" y="4041850"/>
            <a:ext cx="4449050" cy="10267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42175" y="803575"/>
            <a:ext cx="44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Tamanho da População</a:t>
            </a:r>
            <a:endParaRPr b="1"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42200" y="1120613"/>
            <a:ext cx="44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200 </a:t>
            </a:r>
            <a:r>
              <a:rPr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indivíduos</a:t>
            </a:r>
            <a:endParaRPr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42200" y="1520825"/>
            <a:ext cx="44490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Faixa: 10-500</a:t>
            </a:r>
            <a:endParaRPr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42188" y="1885525"/>
            <a:ext cx="44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Número de Gerações</a:t>
            </a:r>
            <a:endParaRPr b="1"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42213" y="2202563"/>
            <a:ext cx="44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100 </a:t>
            </a:r>
            <a:r>
              <a:rPr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iterações</a:t>
            </a:r>
            <a:endParaRPr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42213" y="2602775"/>
            <a:ext cx="44490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Faixa: 1-5000</a:t>
            </a:r>
            <a:endParaRPr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42213" y="2963613"/>
            <a:ext cx="44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Taxa de Crossover</a:t>
            </a:r>
            <a:endParaRPr b="1"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42238" y="3280650"/>
            <a:ext cx="44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0,65</a:t>
            </a:r>
            <a:endParaRPr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42238" y="3680863"/>
            <a:ext cx="44490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Faixa: 0.0-1.0</a:t>
            </a:r>
            <a:endParaRPr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42238" y="4049275"/>
            <a:ext cx="44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Taxa de Mutação</a:t>
            </a:r>
            <a:endParaRPr b="1"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42263" y="4366313"/>
            <a:ext cx="44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0,008</a:t>
            </a:r>
            <a:endParaRPr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342263" y="4766525"/>
            <a:ext cx="44490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Faixa: 0.0-1.0</a:t>
            </a:r>
            <a:endParaRPr sz="1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/>
        </p:nvSpPr>
        <p:spPr>
          <a:xfrm>
            <a:off x="88350" y="78525"/>
            <a:ext cx="515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Melhor Indivíduo Global</a:t>
            </a:r>
            <a:endParaRPr sz="25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81875" y="804975"/>
            <a:ext cx="515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Resultado Otimizado</a:t>
            </a:r>
            <a:endParaRPr sz="16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81875" y="1173325"/>
            <a:ext cx="479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layfair Display"/>
                <a:ea typeface="Playfair Display"/>
                <a:cs typeface="Playfair Display"/>
                <a:sym typeface="Playfair Display"/>
              </a:rPr>
              <a:t>O algoritmo convergiu para a solução ótima na </a:t>
            </a:r>
            <a:r>
              <a:rPr b="1" lang="pt-BR" sz="1300">
                <a:latin typeface="Playfair Display"/>
                <a:ea typeface="Playfair Display"/>
                <a:cs typeface="Playfair Display"/>
                <a:sym typeface="Playfair Display"/>
              </a:rPr>
              <a:t>geração 88</a:t>
            </a:r>
            <a:r>
              <a:rPr lang="pt-BR" sz="1300">
                <a:latin typeface="Playfair Display"/>
                <a:ea typeface="Playfair Display"/>
                <a:cs typeface="Playfair Display"/>
                <a:sym typeface="Playfair Display"/>
              </a:rPr>
              <a:t>, demonstrando eficiência na exploração do espaço de busca</a:t>
            </a:r>
            <a:endParaRPr sz="1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81875" y="1758325"/>
            <a:ext cx="479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Cromossomo</a:t>
            </a:r>
            <a:endParaRPr sz="16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75" y="2189425"/>
            <a:ext cx="4795850" cy="2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181875" y="2189425"/>
            <a:ext cx="47958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115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01111111111111111010110111111111111111111111</a:t>
            </a:r>
            <a:endParaRPr sz="1115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875" y="2618425"/>
            <a:ext cx="2336175" cy="9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1550" y="2618425"/>
            <a:ext cx="2336175" cy="93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181875" y="2618425"/>
            <a:ext cx="2336100" cy="35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Valor de X</a:t>
            </a:r>
            <a:endParaRPr sz="16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641588" y="2618425"/>
            <a:ext cx="2336100" cy="35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Valor de Y</a:t>
            </a:r>
            <a:endParaRPr sz="16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181925" y="2976325"/>
            <a:ext cx="233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"/>
                <a:ea typeface="Playfair Display"/>
                <a:cs typeface="Playfair Display"/>
                <a:sym typeface="Playfair Display"/>
              </a:rPr>
              <a:t>-0.000978</a:t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2641600" y="2986125"/>
            <a:ext cx="233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"/>
                <a:ea typeface="Playfair Display"/>
                <a:cs typeface="Playfair Display"/>
                <a:sym typeface="Playfair Display"/>
              </a:rPr>
              <a:t>-0.000024</a:t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13" y="3707925"/>
            <a:ext cx="2336175" cy="93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181913" y="3707925"/>
            <a:ext cx="2336100" cy="35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Aptidão</a:t>
            </a:r>
            <a:endParaRPr sz="16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81963" y="4065825"/>
            <a:ext cx="233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"/>
                <a:ea typeface="Playfair Display"/>
                <a:cs typeface="Playfair Display"/>
                <a:sym typeface="Playfair Display"/>
              </a:rPr>
              <a:t>0.9999990400</a:t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1550" y="3707925"/>
            <a:ext cx="2336175" cy="93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2641550" y="3707925"/>
            <a:ext cx="2336100" cy="35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Geração</a:t>
            </a:r>
            <a:endParaRPr sz="16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2641600" y="4065825"/>
            <a:ext cx="233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"/>
                <a:ea typeface="Playfair Display"/>
                <a:cs typeface="Playfair Display"/>
                <a:sym typeface="Playfair Display"/>
              </a:rPr>
              <a:t>88</a:t>
            </a:r>
            <a:endParaRPr sz="1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5144488" y="804975"/>
            <a:ext cx="390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Análise de Parentesco</a:t>
            </a:r>
            <a:endParaRPr sz="16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4500" y="1311721"/>
            <a:ext cx="3861475" cy="184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8900" y="1393125"/>
            <a:ext cx="193325" cy="1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382225" y="1327525"/>
            <a:ext cx="3479400" cy="27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pt-BR" sz="126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Pai 1</a:t>
            </a:r>
            <a:endParaRPr sz="126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382225" y="1574450"/>
            <a:ext cx="17157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315">
                <a:latin typeface="Playfair Display"/>
                <a:ea typeface="Playfair Display"/>
                <a:cs typeface="Playfair Display"/>
                <a:sym typeface="Playfair Display"/>
              </a:rPr>
              <a:t>X = -6.293799</a:t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382225" y="1835575"/>
            <a:ext cx="36237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315">
                <a:latin typeface="Playfair Display"/>
                <a:ea typeface="Playfair Display"/>
                <a:cs typeface="Playfair Display"/>
                <a:sym typeface="Playfair Display"/>
              </a:rPr>
              <a:t>Aptidão = 0.9624951800</a:t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382225" y="2095525"/>
            <a:ext cx="36237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315">
                <a:latin typeface="Playfair Display"/>
                <a:ea typeface="Playfair Display"/>
                <a:cs typeface="Playfair Display"/>
                <a:sym typeface="Playfair Display"/>
              </a:rPr>
              <a:t>Geração 88</a:t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7097950" y="1574450"/>
            <a:ext cx="19080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315">
                <a:latin typeface="Playfair Display"/>
                <a:ea typeface="Playfair Display"/>
                <a:cs typeface="Playfair Display"/>
                <a:sym typeface="Playfair Display"/>
              </a:rPr>
              <a:t>Y = -0.097680</a:t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250" y="2495250"/>
            <a:ext cx="3479400" cy="5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340225" y="2495250"/>
            <a:ext cx="3479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415">
                <a:latin typeface="Playfair Display"/>
                <a:ea typeface="Playfair Display"/>
                <a:cs typeface="Playfair Display"/>
                <a:sym typeface="Playfair Display"/>
              </a:rPr>
              <a:t>011101111111000110100101111</a:t>
            </a:r>
            <a:endParaRPr sz="1415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15">
                <a:latin typeface="Playfair Display"/>
                <a:ea typeface="Playfair Display"/>
                <a:cs typeface="Playfair Display"/>
                <a:sym typeface="Playfair Display"/>
              </a:rPr>
              <a:t>11111011111111111</a:t>
            </a:r>
            <a:endParaRPr sz="1415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4488" y="3231621"/>
            <a:ext cx="3861475" cy="184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8888" y="3313025"/>
            <a:ext cx="193325" cy="1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382213" y="3247425"/>
            <a:ext cx="3479400" cy="27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pt-BR" sz="126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Pai 2</a:t>
            </a:r>
            <a:endParaRPr sz="126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382213" y="3494350"/>
            <a:ext cx="17157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315">
                <a:latin typeface="Playfair Display"/>
                <a:ea typeface="Playfair Display"/>
                <a:cs typeface="Playfair Display"/>
                <a:sym typeface="Playfair Display"/>
              </a:rPr>
              <a:t>X = -0.000978</a:t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382213" y="3755475"/>
            <a:ext cx="36237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315">
                <a:latin typeface="Playfair Display"/>
                <a:ea typeface="Playfair Display"/>
                <a:cs typeface="Playfair Display"/>
                <a:sym typeface="Playfair Display"/>
              </a:rPr>
              <a:t>Aptidão = 0.9998493000</a:t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382213" y="4015425"/>
            <a:ext cx="36237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315">
                <a:latin typeface="Playfair Display"/>
                <a:ea typeface="Playfair Display"/>
                <a:cs typeface="Playfair Display"/>
                <a:sym typeface="Playfair Display"/>
              </a:rPr>
              <a:t>Geração 88</a:t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7097938" y="3494350"/>
            <a:ext cx="19080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pt-BR" sz="1315">
                <a:latin typeface="Playfair Display"/>
                <a:ea typeface="Playfair Display"/>
                <a:cs typeface="Playfair Display"/>
                <a:sym typeface="Playfair Display"/>
              </a:rPr>
              <a:t>Y = -0.012231</a:t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237" y="4415150"/>
            <a:ext cx="3479400" cy="5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340213" y="4415150"/>
            <a:ext cx="3479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15">
                <a:latin typeface="Playfair Display"/>
                <a:ea typeface="Playfair Display"/>
                <a:cs typeface="Playfair Display"/>
                <a:sym typeface="Playfair Display"/>
              </a:rPr>
              <a:t>011111111111111110101101111</a:t>
            </a:r>
            <a:endParaRPr sz="1415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15">
                <a:latin typeface="Playfair Display"/>
                <a:ea typeface="Playfair Display"/>
                <a:cs typeface="Playfair Display"/>
                <a:sym typeface="Playfair Display"/>
              </a:rPr>
              <a:t>11111111011111111</a:t>
            </a:r>
            <a:endParaRPr sz="1415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1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/>
        </p:nvSpPr>
        <p:spPr>
          <a:xfrm>
            <a:off x="88350" y="78525"/>
            <a:ext cx="515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Top 5 Indivíduos Globais</a:t>
            </a:r>
            <a:endParaRPr sz="25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88350" y="647925"/>
            <a:ext cx="882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layfair Display"/>
                <a:ea typeface="Playfair Display"/>
                <a:cs typeface="Playfair Display"/>
                <a:sym typeface="Playfair Display"/>
              </a:rPr>
              <a:t>Os cinco melhores indivíduos encontrados ao longo de todas as gerações, representando os picos de aptidão alcançados durante a evolução.</a:t>
            </a:r>
            <a:endParaRPr sz="1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5325"/>
            <a:ext cx="8839201" cy="331087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05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304350" y="791400"/>
            <a:ext cx="515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Evolução da Aptidão</a:t>
            </a:r>
            <a:endParaRPr sz="25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04350" y="1429500"/>
            <a:ext cx="4938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layfair Display"/>
                <a:ea typeface="Playfair Display"/>
                <a:cs typeface="Playfair Display"/>
                <a:sym typeface="Playfair Display"/>
              </a:rPr>
              <a:t>O gráfico demonstra a progressão da aptidão média e máxima da população ao longo das 100 gerações. Observe a convergência rápida nas primeiras 20 gerações, seguida da baixa variação linear.</a:t>
            </a:r>
            <a:endParaRPr sz="1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304350" y="2689550"/>
            <a:ext cx="225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Convergência Inicial</a:t>
            </a:r>
            <a:endParaRPr sz="1600"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04350" y="3120650"/>
            <a:ext cx="2258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layfair Display"/>
                <a:ea typeface="Playfair Display"/>
                <a:cs typeface="Playfair Display"/>
                <a:sym typeface="Playfair Display"/>
              </a:rPr>
              <a:t>Rápida melhoria nas primeiras gerações devido à alta diversidade genética e seleção eficiente dos indivíduos mais aptos.</a:t>
            </a:r>
            <a:endParaRPr sz="1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2886950" y="2689550"/>
            <a:ext cx="235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Estabilização</a:t>
            </a:r>
            <a:endParaRPr sz="1600"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2887050" y="3120650"/>
            <a:ext cx="2355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layfair Display"/>
                <a:ea typeface="Playfair Display"/>
                <a:cs typeface="Playfair Display"/>
                <a:sym typeface="Playfair Display"/>
              </a:rPr>
              <a:t>Após a geração 18, a população converge para a solução ótima, mantendo alta aptidão média.</a:t>
            </a:r>
            <a:endParaRPr sz="1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550" y="1061675"/>
            <a:ext cx="3798050" cy="289728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06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88350" y="78525"/>
            <a:ext cx="515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Distribuição das Aptidões</a:t>
            </a:r>
            <a:endParaRPr sz="25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88350" y="647925"/>
            <a:ext cx="882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layfair Display"/>
                <a:ea typeface="Playfair Display"/>
                <a:cs typeface="Playfair Display"/>
                <a:sym typeface="Playfair Display"/>
              </a:rPr>
              <a:t>O histograma revela a distribuição das aptidões na população final. A concentração de indivíduos em torno de valores altos de aptidão (próximos a 0.99) indica convergência bem-sucedida do algoritmo.</a:t>
            </a:r>
            <a:endParaRPr sz="1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475" y="1719075"/>
            <a:ext cx="2165225" cy="216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1450" y="1719075"/>
            <a:ext cx="2165225" cy="216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5425" y="1719075"/>
            <a:ext cx="2165225" cy="216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5972" y="2552425"/>
            <a:ext cx="1228250" cy="4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57873" y="2514550"/>
            <a:ext cx="1228250" cy="53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89775" y="2544877"/>
            <a:ext cx="1228250" cy="51362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14425" y="4110025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Playfair Display"/>
                <a:ea typeface="Playfair Display"/>
                <a:cs typeface="Playfair Display"/>
                <a:sym typeface="Playfair Display"/>
              </a:rPr>
              <a:t>Da população com aptidão &lt; 0.875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3414700" y="4110025"/>
            <a:ext cx="22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Playfair Display"/>
                <a:ea typeface="Playfair Display"/>
                <a:cs typeface="Playfair Display"/>
                <a:sym typeface="Playfair Display"/>
              </a:rPr>
              <a:t>Com aptidão entre 0.875-0.975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118675" y="4102225"/>
            <a:ext cx="225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layfair Display"/>
                <a:ea typeface="Playfair Display"/>
                <a:cs typeface="Playfair Display"/>
                <a:sym typeface="Playfair Display"/>
              </a:rPr>
              <a:t>Com aptidão &gt; 0.975</a:t>
            </a:r>
            <a:endParaRPr sz="1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07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/>
        </p:nvSpPr>
        <p:spPr>
          <a:xfrm>
            <a:off x="88350" y="78525"/>
            <a:ext cx="515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Dispersão Espacial X×Y</a:t>
            </a:r>
            <a:endParaRPr sz="25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88350" y="647925"/>
            <a:ext cx="882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Playfair Display"/>
                <a:ea typeface="Playfair Display"/>
                <a:cs typeface="Playfair Display"/>
                <a:sym typeface="Playfair Display"/>
              </a:rPr>
              <a:t>Visualização da distribuição dos indivíduos no espaço de busca bidimensional, revelando padrões de convergência espacial.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88350" y="1085925"/>
            <a:ext cx="368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Cluster Principal</a:t>
            </a:r>
            <a:endParaRPr sz="1300"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8350" y="1470825"/>
            <a:ext cx="368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Playfair Display"/>
                <a:ea typeface="Playfair Display"/>
                <a:cs typeface="Playfair Display"/>
                <a:sym typeface="Playfair Display"/>
              </a:rPr>
              <a:t>Alta concentração de indivíduos entre X = -10 e X = 0, região de máxima aptidão da função F6 proximidade a Y=0.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363400" y="1085925"/>
            <a:ext cx="368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Diversidade Residual</a:t>
            </a:r>
            <a:endParaRPr sz="1300"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363400" y="1470825"/>
            <a:ext cx="368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Playfair Display"/>
                <a:ea typeface="Playfair Display"/>
                <a:cs typeface="Playfair Display"/>
                <a:sym typeface="Playfair Display"/>
              </a:rPr>
              <a:t>Presença de poucos indivíduos dispersos mantém capacidade exploratória para evitar mínimos locais.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50" y="2115825"/>
            <a:ext cx="8723291" cy="28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08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/>
        </p:nvSpPr>
        <p:spPr>
          <a:xfrm>
            <a:off x="88350" y="78525"/>
            <a:ext cx="515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Estatísticas Populacionais</a:t>
            </a:r>
            <a:endParaRPr sz="25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8312" y="726450"/>
            <a:ext cx="3267218" cy="13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2938312" y="726450"/>
            <a:ext cx="3267300" cy="502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37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40.000</a:t>
            </a:r>
            <a:endParaRPr sz="2237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2938350" y="1228951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Total de indivíduos</a:t>
            </a:r>
            <a:endParaRPr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299" y="2213825"/>
            <a:ext cx="3267218" cy="13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825299" y="2213825"/>
            <a:ext cx="3267300" cy="502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37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0,99999904</a:t>
            </a:r>
            <a:endParaRPr sz="2237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349" y="3642275"/>
            <a:ext cx="3267218" cy="13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825349" y="3642275"/>
            <a:ext cx="3267300" cy="502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37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0,86634312</a:t>
            </a:r>
            <a:endParaRPr sz="2237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274" y="2213825"/>
            <a:ext cx="3267218" cy="13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051274" y="2213825"/>
            <a:ext cx="3267300" cy="502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37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 0,00248879</a:t>
            </a:r>
            <a:endParaRPr sz="2237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324" y="3642275"/>
            <a:ext cx="3267218" cy="13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051324" y="3642275"/>
            <a:ext cx="3267300" cy="502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37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 0,18158955 </a:t>
            </a:r>
            <a:endParaRPr sz="2237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938350" y="1633476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layfair Display"/>
                <a:ea typeface="Playfair Display"/>
                <a:cs typeface="Playfair Display"/>
                <a:sym typeface="Playfair Display"/>
              </a:rPr>
              <a:t> População X Gerações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825425" y="2709364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39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Aptidão MÁXIMA</a:t>
            </a:r>
            <a:endParaRPr sz="139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825425" y="3113889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layfair Display"/>
                <a:ea typeface="Playfair Display"/>
                <a:cs typeface="Playfair Display"/>
                <a:sym typeface="Playfair Display"/>
              </a:rPr>
              <a:t> Melhor valor alcançado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051400" y="2716326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39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Aptidão mínima</a:t>
            </a:r>
            <a:endParaRPr sz="139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051400" y="3120851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layfair Display"/>
                <a:ea typeface="Playfair Display"/>
                <a:cs typeface="Playfair Display"/>
                <a:sym typeface="Playfair Display"/>
              </a:rPr>
              <a:t> Pior valor alcançado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825425" y="4137814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39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Aptidão Média</a:t>
            </a:r>
            <a:endParaRPr sz="139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825425" y="4542339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layfair Display"/>
                <a:ea typeface="Playfair Display"/>
                <a:cs typeface="Playfair Display"/>
                <a:sym typeface="Playfair Display"/>
              </a:rPr>
              <a:t> Média populacional final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051400" y="4144776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39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Desvio Padrão </a:t>
            </a:r>
            <a:endParaRPr sz="139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051400" y="4549301"/>
            <a:ext cx="32673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850" lIns="127850" spcFirstLastPara="1" rIns="127850" wrap="square" tIns="12785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layfair Display"/>
                <a:ea typeface="Playfair Display"/>
                <a:cs typeface="Playfair Display"/>
                <a:sym typeface="Playfair Display"/>
              </a:rPr>
              <a:t> Relação Desvio/Média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09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157075" y="1855175"/>
            <a:ext cx="515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Agradecimentos</a:t>
            </a:r>
            <a:endParaRPr sz="25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161850" y="2387100"/>
            <a:ext cx="882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Playfair Display"/>
                <a:ea typeface="Playfair Display"/>
                <a:cs typeface="Playfair Display"/>
                <a:sym typeface="Playfair Display"/>
              </a:rPr>
              <a:t>Obrigado por acompanhar esta apresentação.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221125" y="2862600"/>
            <a:ext cx="515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Acesse o Repositório</a:t>
            </a:r>
            <a:endParaRPr sz="1600">
              <a:latin typeface="Playfair Display Black"/>
              <a:ea typeface="Playfair Display Black"/>
              <a:cs typeface="Playfair Display Black"/>
              <a:sym typeface="Playfair Display Black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21125" y="3244625"/>
            <a:ext cx="526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Playfair Display"/>
                <a:ea typeface="Playfair Display"/>
                <a:cs typeface="Playfair Display"/>
                <a:sym typeface="Playfair Display"/>
              </a:rPr>
              <a:t>Código-fonte completo, documentação e instruções de instalação disponíveis no GitHub:</a:t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4989" y="2040275"/>
            <a:ext cx="3027187" cy="29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/>
          <p:cNvPicPr preferRelativeResize="0"/>
          <p:nvPr/>
        </p:nvPicPr>
        <p:blipFill rotWithShape="1">
          <a:blip r:embed="rId5">
            <a:alphaModFix/>
          </a:blip>
          <a:srcRect b="0" l="0" r="-796" t="0"/>
          <a:stretch/>
        </p:blipFill>
        <p:spPr>
          <a:xfrm>
            <a:off x="221125" y="3840600"/>
            <a:ext cx="4952924" cy="114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2052600" y="4104225"/>
            <a:ext cx="308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latin typeface="Playfair Display"/>
                <a:ea typeface="Playfair Display"/>
                <a:cs typeface="Playfair Display"/>
                <a:sym typeface="Playfair Display"/>
              </a:rPr>
              <a:t>Github - mateusribeiros/Genetic-Algorithm---Law-of-the-fittest</a:t>
            </a:r>
            <a:endParaRPr b="1" sz="7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2293200" y="3899075"/>
            <a:ext cx="284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Playfair Display"/>
                <a:ea typeface="Playfair Display"/>
                <a:cs typeface="Playfair Display"/>
                <a:sym typeface="Playfair Display"/>
              </a:rPr>
              <a:t>Github</a:t>
            </a:r>
            <a:endParaRPr sz="7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2052600" y="4322825"/>
            <a:ext cx="308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Playfair Display"/>
                <a:ea typeface="Playfair Display"/>
                <a:cs typeface="Playfair Display"/>
                <a:sym typeface="Playfair Display"/>
              </a:rPr>
              <a:t>This project implements a Genetic Algorithm (GA) applied to the function F6, with the objective of finding the values ​​of X and Y that maximize its fitness. The application was developed in Python and uses Streamlit to provide an interactive and intuitive visual interface.</a:t>
            </a:r>
            <a:endParaRPr sz="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8226900" y="4728000"/>
            <a:ext cx="91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latin typeface="Playfair Display"/>
                <a:ea typeface="Playfair Display"/>
                <a:cs typeface="Playfair Display"/>
                <a:sym typeface="Playfair Display"/>
              </a:rPr>
              <a:t>10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